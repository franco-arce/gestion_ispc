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74" r:id="rId2"/>
    <p:sldId id="275" r:id="rId3"/>
    <p:sldId id="272" r:id="rId4"/>
    <p:sldId id="271" r:id="rId5"/>
    <p:sldId id="273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878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ddaf7d077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ddaf7d077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16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 idx="4294967295"/>
          </p:nvPr>
        </p:nvSpPr>
        <p:spPr>
          <a:xfrm>
            <a:off x="3025643" y="2150843"/>
            <a:ext cx="4786560" cy="841860"/>
          </a:xfrm>
          <a:prstGeom prst="rect">
            <a:avLst/>
          </a:prstGeom>
        </p:spPr>
        <p:txBody>
          <a:bodyPr spcFirstLastPara="1" wrap="square" lIns="82283" tIns="82283" rIns="82283" bIns="82283" anchor="t" anchorCtr="0">
            <a:normAutofit fontScale="90000"/>
          </a:bodyPr>
          <a:lstStyle/>
          <a:p>
            <a:pPr algn="l">
              <a:spcBef>
                <a:spcPts val="0"/>
              </a:spcBef>
            </a:pPr>
            <a:r>
              <a:rPr lang="es-419" sz="2970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TECNOLOGIA Y SOCIEDAD </a:t>
            </a:r>
            <a:endParaRPr sz="2970" dirty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975153" y="1372883"/>
            <a:ext cx="5100030" cy="4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41130" rIns="82283" bIns="41130" anchor="t" anchorCtr="0">
            <a:normAutofit/>
          </a:bodyPr>
          <a:lstStyle/>
          <a:p>
            <a:pPr>
              <a:lnSpc>
                <a:spcPct val="115000"/>
              </a:lnSpc>
              <a:buSzPts val="852"/>
            </a:pPr>
            <a:r>
              <a:rPr lang="es-419" sz="2081" dirty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Ciencia de datos e inteligencia artificial </a:t>
            </a:r>
            <a:endParaRPr sz="2081" dirty="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975163" y="950817"/>
            <a:ext cx="3124170" cy="35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82283" rIns="82283" bIns="82283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419" sz="1339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TECNICATURA SUPERIOR EN</a:t>
            </a:r>
            <a:endParaRPr sz="18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64" name="Google Shape;64;p13"/>
          <p:cNvCxnSpPr/>
          <p:nvPr/>
        </p:nvCxnSpPr>
        <p:spPr>
          <a:xfrm>
            <a:off x="2986740" y="2038198"/>
            <a:ext cx="495936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13"/>
          <p:cNvSpPr/>
          <p:nvPr/>
        </p:nvSpPr>
        <p:spPr>
          <a:xfrm>
            <a:off x="985929" y="1366779"/>
            <a:ext cx="1667790" cy="166779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283" tIns="82283" rIns="82283" bIns="82283" anchor="ctr" anchorCtr="0">
            <a:noAutofit/>
          </a:bodyPr>
          <a:lstStyle/>
          <a:p>
            <a:endParaRPr sz="1620">
              <a:solidFill>
                <a:srgbClr val="FF9900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025652" y="3342095"/>
            <a:ext cx="2709990" cy="30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283" tIns="82283" rIns="82283" bIns="82283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s-419" sz="1339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CLASE  NRO 1: CAPITULO 1  ACTIVIDAD INTEGRADORA  1  180426</a:t>
            </a:r>
            <a:endParaRPr sz="180" dirty="0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7" name="Google Shape;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134" y="1459980"/>
            <a:ext cx="1481378" cy="14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4756"/>
                </a:solidFill>
              </a:defRPr>
            </a:pPr>
            <a:r>
              <a:t>Relación entre Tecnología y Sociedad y la Tecnicatura en Ciencia de Datos 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55555"/>
                </a:solidFill>
              </a:defRPr>
            </a:pPr>
            <a:r>
              <a:t>¿Por qué esta materia es clave en tu formación profesional?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560320" cy="128016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TECNOLOGÍA Y SOCIEDAD</a:t>
            </a:r>
          </a:p>
          <a:p>
            <a:pPr algn="ctr">
              <a:defRPr sz="800">
                <a:solidFill>
                  <a:srgbClr val="D5EAF2"/>
                </a:solidFill>
              </a:defRPr>
            </a:pPr>
            <a:r>
              <a:t>Reflexión crítica sobre el impacto social, ético y político de la tecnología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1554480"/>
            <a:ext cx="548640" cy="274320"/>
          </a:xfrm>
          <a:prstGeom prst="rightArrow">
            <a:avLst/>
          </a:prstGeom>
          <a:solidFill>
            <a:srgbClr val="B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0" y="1051560"/>
            <a:ext cx="1828800" cy="1463040"/>
          </a:xfrm>
          <a:prstGeom prst="roundRect">
            <a:avLst/>
          </a:prstGeom>
          <a:solidFill>
            <a:srgbClr val="D47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PROFESIONAL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INTEGRAL</a:t>
            </a:r>
          </a:p>
          <a:p>
            <a:pPr algn="ctr">
              <a:defRPr sz="800">
                <a:solidFill>
                  <a:srgbClr val="F8E0F0"/>
                </a:solidFill>
              </a:defRPr>
            </a:pPr>
            <a:r>
              <a:t>Técnico + Ético + Social</a:t>
            </a:r>
          </a:p>
        </p:txBody>
      </p:sp>
      <p:sp>
        <p:nvSpPr>
          <p:cNvPr id="8" name="Left Arrow 7"/>
          <p:cNvSpPr/>
          <p:nvPr/>
        </p:nvSpPr>
        <p:spPr>
          <a:xfrm>
            <a:off x="5760720" y="1554480"/>
            <a:ext cx="548640" cy="274320"/>
          </a:xfrm>
          <a:prstGeom prst="leftArrow">
            <a:avLst/>
          </a:prstGeom>
          <a:solidFill>
            <a:srgbClr val="B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1143000"/>
            <a:ext cx="2286000" cy="1280160"/>
          </a:xfrm>
          <a:prstGeom prst="roundRect">
            <a:avLst/>
          </a:prstGeom>
          <a:solidFill>
            <a:srgbClr val="0D4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CIENCIA DE DATOS E IA</a:t>
            </a:r>
          </a:p>
          <a:p>
            <a:pPr algn="ctr">
              <a:defRPr sz="800">
                <a:solidFill>
                  <a:srgbClr val="CADCFC"/>
                </a:solidFill>
              </a:defRPr>
            </a:pPr>
            <a:r>
              <a:t>Herramientas técnicas: programación, datos, algoritmos,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9659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l">
              <a:defRPr sz="1000" b="1">
                <a:solidFill>
                  <a:srgbClr val="0D4756"/>
                </a:solidFill>
              </a:defRPr>
            </a:pPr>
            <a:r>
              <a:t>Ética en IA y Datos</a:t>
            </a:r>
          </a:p>
          <a:p>
            <a:pPr algn="l">
              <a:spcBef>
                <a:spcPts val="400"/>
              </a:spcBef>
              <a:defRPr sz="800">
                <a:solidFill>
                  <a:srgbClr val="555555"/>
                </a:solidFill>
              </a:defRPr>
            </a:pPr>
            <a:r>
              <a:t>Comprender sesgos algorítmicos, privacidad y vigilancia para diseñar sistemas responsables.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965960" cy="54864"/>
          </a:xfrm>
          <a:prstGeom prst="rect">
            <a:avLst/>
          </a:prstGeom>
          <a:solidFill>
            <a:srgbClr val="89C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606040" y="2743200"/>
            <a:ext cx="19659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l">
              <a:defRPr sz="1000" b="1">
                <a:solidFill>
                  <a:srgbClr val="0D4756"/>
                </a:solidFill>
              </a:defRPr>
            </a:pPr>
            <a:r>
              <a:t>Impacto Social</a:t>
            </a:r>
          </a:p>
          <a:p>
            <a:pPr algn="l">
              <a:spcBef>
                <a:spcPts val="400"/>
              </a:spcBef>
              <a:defRPr sz="800">
                <a:solidFill>
                  <a:srgbClr val="555555"/>
                </a:solidFill>
              </a:defRPr>
            </a:pPr>
            <a:r>
              <a:t>Evaluar cómo las soluciones tecnológicas afectan comunidades, empleo y desigualdad.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743200"/>
            <a:ext cx="1965960" cy="54864"/>
          </a:xfrm>
          <a:prstGeom prst="rect">
            <a:avLst/>
          </a:prstGeom>
          <a:solidFill>
            <a:srgbClr val="D47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54880" y="2743200"/>
            <a:ext cx="19659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l">
              <a:defRPr sz="1000" b="1">
                <a:solidFill>
                  <a:srgbClr val="0D4756"/>
                </a:solidFill>
              </a:defRPr>
            </a:pPr>
            <a:r>
              <a:t>Ciudadanía Digital</a:t>
            </a:r>
          </a:p>
          <a:p>
            <a:pPr algn="l">
              <a:spcBef>
                <a:spcPts val="400"/>
              </a:spcBef>
              <a:defRPr sz="800">
                <a:solidFill>
                  <a:srgbClr val="555555"/>
                </a:solidFill>
              </a:defRPr>
            </a:pPr>
            <a:r>
              <a:t>Formar profesionales que promuevan inclusión, accesibilidad y derechos digitales.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743200"/>
            <a:ext cx="1965960" cy="54864"/>
          </a:xfrm>
          <a:prstGeom prst="rect">
            <a:avLst/>
          </a:prstGeom>
          <a:solidFill>
            <a:srgbClr val="C0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03720" y="2743200"/>
            <a:ext cx="1965960" cy="1371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37160" rtlCol="0" anchor="ctr"/>
          <a:lstStyle/>
          <a:p>
            <a:pPr algn="l">
              <a:defRPr sz="1000" b="1">
                <a:solidFill>
                  <a:srgbClr val="0D4756"/>
                </a:solidFill>
              </a:defRPr>
            </a:pPr>
            <a:r>
              <a:t>Pensamiento Crítico</a:t>
            </a:r>
          </a:p>
          <a:p>
            <a:pPr algn="l">
              <a:spcBef>
                <a:spcPts val="400"/>
              </a:spcBef>
              <a:defRPr sz="800">
                <a:solidFill>
                  <a:srgbClr val="555555"/>
                </a:solidFill>
              </a:defRPr>
            </a:pPr>
            <a:r>
              <a:t>Cuestionar para qué y para quiénes se diseña la tecnología antes de construirla.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743200"/>
            <a:ext cx="1965960" cy="54864"/>
          </a:xfrm>
          <a:prstGeom prst="rect">
            <a:avLst/>
          </a:prstGeom>
          <a:solidFill>
            <a:srgbClr val="B3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0D4756"/>
                </a:solidFill>
              </a:defRPr>
            </a:pPr>
            <a:r>
              <a:t>"Un/a científico/a de datos sin conciencia social construye herramientas que pueden profundizar desigualdades en lugar de reducirlas."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999999"/>
                </a:solidFill>
              </a:defRPr>
            </a:pPr>
            <a:r>
              <a:rPr dirty="0"/>
              <a:t>ISPC · </a:t>
            </a:r>
            <a:r>
              <a:rPr dirty="0" err="1"/>
              <a:t>Tecnicatura</a:t>
            </a:r>
            <a:r>
              <a:rPr dirty="0"/>
              <a:t> Superior en Ciencia de Datos e Inteligencia Artificial · Tecnología y Sociedad · </a:t>
            </a:r>
            <a:r>
              <a:rPr dirty="0" err="1"/>
              <a:t>Clase</a:t>
            </a:r>
            <a:r>
              <a:rPr dirty="0"/>
              <a:t>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132942"/>
          </a:solidFill>
          <a:ln w="12700">
            <a:solidFill>
              <a:srgbClr val="13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A1F38"/>
          </a:solidFill>
          <a:ln w="12700">
            <a:solidFill>
              <a:srgbClr val="0A1F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11480"/>
            <a:ext cx="32004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11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INTEGRADORA  ·  Tecnología y Sociedad · Clase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"Mapeo de Brechas Digitales en mi Comunidad"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2743200" cy="2697480"/>
          </a:xfrm>
          <a:prstGeom prst="rect">
            <a:avLst/>
          </a:prstGeom>
          <a:solidFill>
            <a:srgbClr val="1C3557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19072"/>
            <a:ext cx="27432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150876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" y="17190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individual · 10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167128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Pensá en tu barrio, ciudad o comunidad y respondé: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¿Qué nivel de acceso a internet tiene la mayoría?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¿Qué dispositivos usan? ¿Qué usos hacen?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¿Quiénes quedan excluidos y por qué?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64992" y="1719072"/>
            <a:ext cx="2743200" cy="2697480"/>
          </a:xfrm>
          <a:prstGeom prst="rect">
            <a:avLst/>
          </a:prstGeom>
          <a:solidFill>
            <a:srgbClr val="1C3557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719072"/>
            <a:ext cx="2743200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462272" y="1508760"/>
            <a:ext cx="566928" cy="5669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38144" y="17190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grupal · 15 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2167128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grupos de 3-4 personas, compartan y detecten: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El factor de brecha digital más presente.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Una dimensión no obvia (género, edad, idioma).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Una estrategia posible de reducción local.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72784" y="1719072"/>
            <a:ext cx="2743200" cy="2697480"/>
          </a:xfrm>
          <a:prstGeom prst="rect">
            <a:avLst/>
          </a:prstGeom>
          <a:solidFill>
            <a:srgbClr val="1C3557"/>
          </a:solidFill>
          <a:ln/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1719072"/>
            <a:ext cx="274320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7370064" y="1508760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0064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45936" y="17190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y presentación · 10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64224" y="2167128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presenta (2 min) su diagnóstico y propuesta.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diseñen un afiche/infografía con Canva o Google Slides que sintetice la situación y una solución posible.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498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Tiempo total: 35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4498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Registrar en carpeta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4498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Brecha digital · Inclusión · Acceso · Apropiación</a:t>
            </a:r>
            <a:endParaRPr lang="en-US" sz="9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F63F016F-8078-4B36-93B6-F9D8303EE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015984" cy="1431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 y Fuentes · Clase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846320"/>
            <a:ext cx="8778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ISPC · Tecnicatura Superior en Ciencia de Datos e Inteligencia Artificial · Tecnología y Sociedad · Clase 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1605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Libros Fundamentales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261872"/>
            <a:ext cx="4160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32588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Dijk, J. (2005). The Deepening Divide: Inequality in the Information Society. Sage Publications.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901952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Castells, M. (1996). La Era de la Información: Economía, Sociedad y Cultura. Vol. 1. Alianza Editorial.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478024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Zuboff, S. (2019). The Age of Surveillance Capitalism. Public Affairs / Harvard Business School Press.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3054096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Winner, L. (1980). Do Artifacts Have Politics? Daedalus, 109(1), 121–136.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251960" cy="347472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Informes y Fuentes Oficiales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61872"/>
            <a:ext cx="4251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325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Economic Forum (2023). Future of Jobs Report 2023. WEF.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754880" y="16459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UIT/ITU (2023). Measuring Digital Development: Facts and Figures 2023. ITU.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754880" y="19659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CEPAL (2022). Estado de la Banda Ancha en América Latina y el Caribe. Naciones Unidas.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 (2022). Encuesta Permanente de Hogares: Módulo TIC. INDEC.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251960" cy="3291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2743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Lecturas Complementarias y Recursos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072384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313639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Pariser, E. (2011). The Filter Bubble: What the Internet is Hiding from You. Penguin Press.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754880" y="35112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(2023). Technology in Education: A Tool on Whose Terms? Global Education Monitoring Report.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54880" y="38862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Ceibal Uruguay: www.ceibal.edu.uy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54880" y="426110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Igualdad Argentina: www.argentina.gob.ar/conectarigualdad</a:t>
            </a:r>
            <a:endParaRPr lang="en-US" sz="88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8AC86F76-1B7B-4328-A48E-5E5F158CE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131"/>
            <a:ext cx="9144000" cy="1451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132942"/>
          </a:solidFill>
          <a:ln w="12700">
            <a:solidFill>
              <a:srgbClr val="13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828800"/>
            <a:ext cx="5486400" cy="5486400"/>
          </a:xfrm>
          <a:prstGeom prst="ellipse">
            <a:avLst/>
          </a:prstGeom>
          <a:solidFill>
            <a:srgbClr val="0A1F38"/>
          </a:solidFill>
          <a:ln w="12700">
            <a:solidFill>
              <a:srgbClr val="0A1F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gracias!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Sociedad · Clase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ISPC · Tecnicatura Superior en Ciencia de Datos e Inteligencia Artificial · 2026</a:t>
            </a:r>
            <a:endParaRPr lang="en-US" sz="13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5D5615E-340D-4C57-8C05-402ACFF96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43"/>
            <a:ext cx="9144000" cy="1451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654</Words>
  <Application>Microsoft Office PowerPoint</Application>
  <PresentationFormat>Presentación en pantalla (16:9)</PresentationFormat>
  <Paragraphs>67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Poppins Medium</vt:lpstr>
      <vt:lpstr>Poppins SemiBold</vt:lpstr>
      <vt:lpstr>Office Theme</vt:lpstr>
      <vt:lpstr>TECNOLOGIA Y SOCIEDAD 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Tecnología y Sociedad - Clase 1 - ISPC</dc:title>
  <dc:subject>PptxGenJS Presentation</dc:subject>
  <dc:creator>PptxGenJS</dc:creator>
  <cp:lastModifiedBy>Farias, Ana</cp:lastModifiedBy>
  <cp:revision>4</cp:revision>
  <dcterms:created xsi:type="dcterms:W3CDTF">2026-03-17T20:44:26Z</dcterms:created>
  <dcterms:modified xsi:type="dcterms:W3CDTF">2026-03-18T16:56:49Z</dcterms:modified>
</cp:coreProperties>
</file>